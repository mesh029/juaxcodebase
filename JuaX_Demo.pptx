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47088"/>
            <a:ext cx="310896" cy="164592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105091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60">
                <a:solidFill>
                  <a:srgbClr val="E8951A"/>
                </a:solidFill>
                <a:latin typeface="Calibri"/>
              </a:rPr>
              <a:t>KENYA'S EVERYDAY SUPER-APP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105091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F5F5F7"/>
                </a:solidFill>
                <a:latin typeface="Calibri Light"/>
              </a:rPr>
              <a:t>Jua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EADB8"/>
                </a:solidFill>
                <a:latin typeface="Calibri"/>
              </a:rPr>
              <a:t>Rides, laundry, stays &amp; homes — one app, one tap, across Kenya.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74920"/>
            <a:ext cx="6766560" cy="566928"/>
          </a:xfrm>
          <a:prstGeom prst="roundRect">
            <a:avLst>
              <a:gd name="adj" fmla="val 28000"/>
            </a:avLst>
          </a:prstGeom>
          <a:solidFill>
            <a:srgbClr val="17161C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507492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5F5F7"/>
                </a:solidFill>
                <a:latin typeface="Calibri"/>
              </a:rPr>
              <a:t>Powered by Jua Fua laundry &amp; city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7E7D8A"/>
                </a:solidFill>
                <a:latin typeface="Calibri"/>
              </a:rPr>
              <a:t>Pilot counties:  Kisumu · Nairobi · Mombasa · Nyamira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66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57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20">
                <a:solidFill>
                  <a:srgbClr val="E8951A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786384"/>
            <a:ext cx="100519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Calibri Light"/>
              </a:rPr>
              <a:t>Five everyday needs, one Kenyan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72768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AEADB8"/>
                </a:solidFill>
                <a:latin typeface="Calibri"/>
              </a:rPr>
              <a:t>Most people juggle a different app for every errand. Jua X bundles the daily essentials into a single, location-aware experience built for Kenya.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468880"/>
            <a:ext cx="1926275" cy="1417320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65176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633472"/>
            <a:ext cx="1359347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Rentals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Find homes near you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6979" y="2468880"/>
            <a:ext cx="1926275" cy="1417320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33283" y="265176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1027" y="2633472"/>
            <a:ext cx="1359347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BnB stays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Book short stays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2710" y="2468880"/>
            <a:ext cx="1926275" cy="1417320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79014" y="265176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6758" y="2633472"/>
            <a:ext cx="1359347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Rides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Get there, fair fares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441" y="2468880"/>
            <a:ext cx="1926275" cy="1417320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4745" y="265176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489" y="2633472"/>
            <a:ext cx="1359347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Jua Fua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Laundry, door-to-door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4172" y="2468880"/>
            <a:ext cx="1926275" cy="1417320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0476" y="265176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8220" y="2633472"/>
            <a:ext cx="1359347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Explore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Discover the 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251960"/>
            <a:ext cx="10509199" cy="1554480"/>
          </a:xfrm>
          <a:prstGeom prst="roundRect">
            <a:avLst>
              <a:gd name="adj" fmla="val 5000"/>
            </a:avLst>
          </a:prstGeom>
          <a:solidFill>
            <a:srgbClr val="17161C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480560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E8951A"/>
                </a:solidFill>
                <a:latin typeface="Calibri"/>
              </a:rPr>
              <a:t>WHY IT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828032"/>
            <a:ext cx="97776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AEADB8"/>
                </a:solidFill>
                <a:latin typeface="Calibri"/>
              </a:rPr>
              <a:t>One login and profile  ·  one map &amp; GPS engine  ·  one M-Pesa wallet flow.  Cross-sell is built in — a renter today is a laundry &amp; rides customer tomorrow.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30" name="Oval 29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66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57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20">
                <a:solidFill>
                  <a:srgbClr val="E8951A"/>
                </a:solidFill>
                <a:latin typeface="Calibri"/>
              </a:rPr>
              <a:t>WORKING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786384"/>
            <a:ext cx="100519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Calibri Light"/>
              </a:rPr>
              <a:t>What's live in the app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00784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883664"/>
            <a:ext cx="64008" cy="530352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1865376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Real accounts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Phone OTP + email sign-in, JWT sessions, secure token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00784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9311" y="1883664"/>
            <a:ext cx="64008" cy="5303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1865376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GIS “Near me”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GPS + radius search, county-aware, accurate distance sorting.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43200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2926080"/>
            <a:ext cx="64008" cy="530352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2907792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BnB bookings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Browse, reserve, and confirm stays with payment step.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743200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2926080"/>
            <a:ext cx="64008" cy="53035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2907792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Rental viewings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Request a viewing &amp; chat with the landlord/admin in-app.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785615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3968496"/>
            <a:ext cx="64008" cy="53035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6" y="3950207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Jua Fua laundry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Kg/item estimate, place orders, confirm delivery.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785615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9311" y="3968496"/>
            <a:ext cx="64008" cy="530352"/>
          </a:xfrm>
          <a:prstGeom prst="roundRect">
            <a:avLst>
              <a:gd name="adj" fmla="val 50000"/>
            </a:avLst>
          </a:prstGeom>
          <a:solidFill>
            <a:srgbClr val="C4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7055" y="3950207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Listing unlock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Weekly subscription reveals exact pin + landlord contact.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828032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5010912"/>
            <a:ext cx="64008" cy="53035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5296" y="4992624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Rides preview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Destination search, live route, distance &amp; fare estimate.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4828032"/>
            <a:ext cx="5117439" cy="89611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79311" y="5010912"/>
            <a:ext cx="64008" cy="530352"/>
          </a:xfrm>
          <a:prstGeom prst="roundRect">
            <a:avLst>
              <a:gd name="adj" fmla="val 50000"/>
            </a:avLst>
          </a:prstGeom>
          <a:solidFill>
            <a:srgbClr val="AE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7055" y="4992624"/>
            <a:ext cx="4550511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7"/>
                </a:solidFill>
                <a:latin typeface="Calibri"/>
              </a:rPr>
              <a:t>Polished UX</a:t>
            </a:r>
          </a:p>
          <a:p>
            <a:pPr algn="l">
              <a:lnSpc>
                <a:spcPct val="102000"/>
              </a:lnSpc>
            </a:pPr>
            <a:r>
              <a:rPr sz="1019" b="0">
                <a:solidFill>
                  <a:srgbClr val="AEADB8"/>
                </a:solidFill>
                <a:latin typeface="Calibri"/>
              </a:rPr>
              <a:t>Unified Mapbox map, light/dark themes, deep-linked pages.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35" name="Oval 34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66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57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20">
                <a:solidFill>
                  <a:srgbClr val="60A5FA"/>
                </a:solidFill>
                <a:latin typeface="Calibri"/>
              </a:rPr>
              <a:t>ON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786384"/>
            <a:ext cx="100519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Calibri Light"/>
              </a:rPr>
              <a:t>Coming soon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556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9385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19202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Live M-Pesa STK Push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Real Daraja payments &amp; callbacks — today's flow is confirm-only.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556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9311" y="19385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19202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Push notifications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Trip, laundry pickup, and chat alerts via FCM/APNs.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3101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2918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Turn-by-turn nav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Native Mapbox Navigation replacing WebView preview.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1272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33101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32918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Ride dispatch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Driver matching &amp; live trip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4988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46817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6" y="46634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3D property tours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Matterport/Polycam walkthroughs for stays &amp; rentals.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498848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9311" y="4681728"/>
            <a:ext cx="64008" cy="8046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7055" y="4663440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5F5F7"/>
                </a:solidFill>
                <a:latin typeface="Calibri"/>
              </a:rPr>
              <a:t>Realtime chat &amp; search</a:t>
            </a:r>
          </a:p>
          <a:p>
            <a:pPr algn="l">
              <a:lnSpc>
                <a:spcPct val="102000"/>
              </a:lnSpc>
            </a:pPr>
            <a:r>
              <a:rPr sz="1050" b="0">
                <a:solidFill>
                  <a:srgbClr val="AEADB8"/>
                </a:solidFill>
                <a:latin typeface="Calibri"/>
              </a:rPr>
              <a:t>Live inbox, read receipts, and cross-service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29" name="Oval 28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66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57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20">
                <a:solidFill>
                  <a:srgbClr val="22C55E"/>
                </a:solidFill>
                <a:latin typeface="Calibri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786384"/>
            <a:ext cx="100519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Calibri Light"/>
              </a:rPr>
              <a:t>Backend: built vs. remaining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00784"/>
            <a:ext cx="5071719" cy="4480560"/>
          </a:xfrm>
          <a:prstGeom prst="roundRect">
            <a:avLst>
              <a:gd name="adj" fmla="val 4500"/>
            </a:avLst>
          </a:prstGeom>
          <a:solidFill>
            <a:srgbClr val="17161C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00784"/>
            <a:ext cx="5071719" cy="566928"/>
          </a:xfrm>
          <a:prstGeom prst="roundRect">
            <a:avLst>
              <a:gd name="adj" fmla="val 4500"/>
            </a:avLst>
          </a:prstGeom>
          <a:solidFill>
            <a:srgbClr val="22C55E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1700784"/>
            <a:ext cx="461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150">
                <a:solidFill>
                  <a:srgbClr val="22C55E"/>
                </a:solidFill>
                <a:latin typeface="Calibri"/>
              </a:rPr>
              <a:t>SHIPPED  ·  Next.js API on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32304"/>
            <a:ext cx="443163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Auth service — OTP + email, JWT, sessions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Listings API + GIS “nearby” (lat/lng/radius)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BnB bookings + payment-confirm endpoints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Laundry orders, estimates &amp; mama-fua tasks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Subscriptions — plans, active, create, confirm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Listing requests + messaging threads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F5F5F7"/>
                </a:solidFill>
                <a:latin typeface="Calibri"/>
              </a:rPr>
              <a:t>✓  Profile, feedback &amp; catalog bootstrap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700784"/>
            <a:ext cx="5071719" cy="4480560"/>
          </a:xfrm>
          <a:prstGeom prst="roundRect">
            <a:avLst>
              <a:gd name="adj" fmla="val 4500"/>
            </a:avLst>
          </a:prstGeom>
          <a:solidFill>
            <a:srgbClr val="17161C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700784"/>
            <a:ext cx="5071719" cy="566928"/>
          </a:xfrm>
          <a:prstGeom prst="roundRect">
            <a:avLst>
              <a:gd name="adj" fmla="val 4500"/>
            </a:avLst>
          </a:prstGeom>
          <a:solidFill>
            <a:srgbClr val="E8951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700784"/>
            <a:ext cx="461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150">
                <a:solidFill>
                  <a:srgbClr val="E8951A"/>
                </a:solidFill>
                <a:latin typeface="Calibri"/>
              </a:rPr>
              <a:t>REMAINING  ·  path to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7911" y="2432304"/>
            <a:ext cx="443163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Live M-Pesa Daraja (STK push + webhooks)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Push infrastructure (FCM / APNs)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Realtime sockets for chat &amp; alerts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Admin / operations dashboard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Analytics + crash monitoring (Sentry)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CI/CD + EAS store builds &amp; release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AEADB8"/>
                </a:solidFill>
                <a:latin typeface="Calibri"/>
              </a:rPr>
              <a:t>○  Load testing &amp; security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19" name="Oval 18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66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57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20">
                <a:solidFill>
                  <a:srgbClr val="00A651"/>
                </a:solidFill>
                <a:latin typeface="Calibri"/>
              </a:rPr>
              <a:t>THE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786384"/>
            <a:ext cx="100519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Calibri Light"/>
              </a:rPr>
              <a:t>How Jua X makes 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82496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865376"/>
            <a:ext cx="64008" cy="804672"/>
          </a:xfrm>
          <a:prstGeom prst="roundRect">
            <a:avLst>
              <a:gd name="adj" fmla="val 50000"/>
            </a:avLst>
          </a:prstGeom>
          <a:solidFill>
            <a:srgbClr val="C4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1847088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Listing subscriptions</a:t>
            </a:r>
          </a:p>
          <a:p>
            <a:pPr algn="l">
              <a:lnSpc>
                <a:spcPct val="102000"/>
              </a:lnSpc>
            </a:pPr>
            <a:r>
              <a:rPr sz="1080" b="0">
                <a:solidFill>
                  <a:srgbClr val="AEADB8"/>
                </a:solidFill>
                <a:latin typeface="Calibri"/>
              </a:rPr>
              <a:t>KES 499 / week to unlock exact pins + landlord contact on rentals.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682496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9311" y="1865376"/>
            <a:ext cx="64008" cy="804672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1847088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BnB commission</a:t>
            </a:r>
          </a:p>
          <a:p>
            <a:pPr algn="l">
              <a:lnSpc>
                <a:spcPct val="102000"/>
              </a:lnSpc>
            </a:pPr>
            <a:r>
              <a:rPr sz="1080" b="0">
                <a:solidFill>
                  <a:srgbClr val="AEADB8"/>
                </a:solidFill>
                <a:latin typeface="Calibri"/>
              </a:rPr>
              <a:t>A service cut on every confirmed stay, collected via M-Pesa.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054096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236976"/>
            <a:ext cx="64008" cy="8046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218688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Laundry margin</a:t>
            </a:r>
          </a:p>
          <a:p>
            <a:pPr algn="l">
              <a:lnSpc>
                <a:spcPct val="102000"/>
              </a:lnSpc>
            </a:pPr>
            <a:r>
              <a:rPr sz="1080" b="0">
                <a:solidFill>
                  <a:srgbClr val="AEADB8"/>
                </a:solidFill>
                <a:latin typeface="Calibri"/>
              </a:rPr>
              <a:t>Jua Fua at KES 180/kg · 95/item — margin on every wash.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054096"/>
            <a:ext cx="5117439" cy="1170432"/>
          </a:xfrm>
          <a:prstGeom prst="roundRect">
            <a:avLst>
              <a:gd name="adj" fmla="val 9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3236976"/>
            <a:ext cx="64008" cy="80467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3218688"/>
            <a:ext cx="4550511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5F7"/>
                </a:solidFill>
                <a:latin typeface="Calibri"/>
              </a:rPr>
              <a:t>Ride service fee</a:t>
            </a:r>
          </a:p>
          <a:p>
            <a:pPr algn="l">
              <a:lnSpc>
                <a:spcPct val="102000"/>
              </a:lnSpc>
            </a:pPr>
            <a:r>
              <a:rPr sz="1080" b="0">
                <a:solidFill>
                  <a:srgbClr val="AEADB8"/>
                </a:solidFill>
                <a:latin typeface="Calibri"/>
              </a:rPr>
              <a:t>Per-trip fee on rides once dispatch &amp; payments go live.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553712"/>
            <a:ext cx="10509199" cy="1234440"/>
          </a:xfrm>
          <a:prstGeom prst="roundRect">
            <a:avLst>
              <a:gd name="adj" fmla="val 6000"/>
            </a:avLst>
          </a:prstGeom>
          <a:solidFill>
            <a:srgbClr val="17161C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718304"/>
            <a:ext cx="996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00A651"/>
                </a:solidFill>
                <a:latin typeface="Calibri"/>
              </a:rPr>
              <a:t>HOW THE MONEY MOVES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2144" y="5120640"/>
            <a:ext cx="2148840" cy="512064"/>
          </a:xfrm>
          <a:prstGeom prst="roundRect">
            <a:avLst>
              <a:gd name="adj" fmla="val 30000"/>
            </a:avLst>
          </a:prstGeom>
          <a:solidFill>
            <a:srgbClr val="1E1D25"/>
          </a:solidFill>
          <a:ln w="12700">
            <a:solidFill>
              <a:srgbClr val="F5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5120640"/>
            <a:ext cx="2148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5F5F7"/>
                </a:solidFill>
                <a:latin typeface="Calibri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5120640"/>
            <a:ext cx="43068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E7D8A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1666" y="5120640"/>
            <a:ext cx="2148840" cy="512064"/>
          </a:xfrm>
          <a:prstGeom prst="roundRect">
            <a:avLst>
              <a:gd name="adj" fmla="val 30000"/>
            </a:avLst>
          </a:prstGeom>
          <a:solidFill>
            <a:srgbClr val="1E1D25"/>
          </a:solidFill>
          <a:ln w="127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1666" y="5120640"/>
            <a:ext cx="2148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A651"/>
                </a:solidFill>
                <a:latin typeface="Calibri"/>
              </a:rPr>
              <a:t>M-Pesa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0506" y="5120640"/>
            <a:ext cx="43068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E7D8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1188" y="5120640"/>
            <a:ext cx="2148840" cy="512064"/>
          </a:xfrm>
          <a:prstGeom prst="roundRect">
            <a:avLst>
              <a:gd name="adj" fmla="val 30000"/>
            </a:avLst>
          </a:prstGeom>
          <a:solidFill>
            <a:srgbClr val="1E1D25"/>
          </a:solidFill>
          <a:ln w="12700">
            <a:solidFill>
              <a:srgbClr val="E89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1188" y="5120640"/>
            <a:ext cx="2148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951A"/>
                </a:solidFill>
                <a:latin typeface="Calibri"/>
              </a:rPr>
              <a:t>Jua X fee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0028" y="5120640"/>
            <a:ext cx="43068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E7D8A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90711" y="5120640"/>
            <a:ext cx="2148840" cy="512064"/>
          </a:xfrm>
          <a:prstGeom prst="roundRect">
            <a:avLst>
              <a:gd name="adj" fmla="val 30000"/>
            </a:avLst>
          </a:prstGeom>
          <a:solidFill>
            <a:srgbClr val="1E1D25"/>
          </a:solidFill>
          <a:ln w="12700">
            <a:solidFill>
              <a:srgbClr val="AEA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0711" y="5120640"/>
            <a:ext cx="2148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AEADB8"/>
                </a:solidFill>
                <a:latin typeface="Calibri"/>
              </a:rPr>
              <a:t>Partner payout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36" name="Oval 35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965960"/>
            <a:ext cx="4206240" cy="4206240"/>
          </a:xfrm>
          <a:prstGeom prst="ellipse">
            <a:avLst/>
          </a:prstGeom>
          <a:solidFill>
            <a:srgbClr val="3A2C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1234440"/>
            <a:ext cx="2743200" cy="2743200"/>
          </a:xfrm>
          <a:prstGeom prst="ellipse">
            <a:avLst/>
          </a:prstGeom>
          <a:solidFill>
            <a:srgbClr val="C47A1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-685800"/>
            <a:ext cx="1645920" cy="1645920"/>
          </a:xfrm>
          <a:prstGeom prst="ellipse">
            <a:avLst/>
          </a:prstGeom>
          <a:solidFill>
            <a:srgbClr val="E895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371600"/>
            <a:ext cx="310896" cy="164592"/>
          </a:xfrm>
          <a:prstGeom prst="roundRect">
            <a:avLst>
              <a:gd name="adj" fmla="val 50000"/>
            </a:avLst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261872"/>
            <a:ext cx="105091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60">
                <a:solidFill>
                  <a:srgbClr val="E8951A"/>
                </a:solidFill>
                <a:latin typeface="Calibri"/>
              </a:rPr>
              <a:t>LET'S SEE IT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5F5F7"/>
                </a:solidFill>
                <a:latin typeface="Calibri Light"/>
              </a:rPr>
              <a:t>Time for the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26080"/>
            <a:ext cx="2448991" cy="1691640"/>
          </a:xfrm>
          <a:prstGeom prst="roundRect">
            <a:avLst>
              <a:gd name="adj" fmla="val 8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163824"/>
            <a:ext cx="457200" cy="457200"/>
          </a:xfrm>
          <a:prstGeom prst="ellipse">
            <a:avLst/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63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0E12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30752"/>
            <a:ext cx="1936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Calibri"/>
              </a:rPr>
              <a:t>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59936"/>
            <a:ext cx="193692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EADB8"/>
                </a:solidFill>
                <a:latin typeface="Calibri"/>
              </a:rPr>
              <a:t>Real phone OTP / email — you're a live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7983" y="2926080"/>
            <a:ext cx="2448991" cy="1691640"/>
          </a:xfrm>
          <a:prstGeom prst="roundRect">
            <a:avLst>
              <a:gd name="adj" fmla="val 8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4015" y="3163824"/>
            <a:ext cx="457200" cy="457200"/>
          </a:xfrm>
          <a:prstGeom prst="ellipse">
            <a:avLst/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4015" y="3163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0E12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4015" y="3730752"/>
            <a:ext cx="1936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Calibri"/>
              </a:rPr>
              <a:t>Find a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4015" y="4059936"/>
            <a:ext cx="193692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EADB8"/>
                </a:solidFill>
                <a:latin typeface="Calibri"/>
              </a:rPr>
              <a:t>“Near me” rentals by GPS; request a viewing.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4719" y="2926080"/>
            <a:ext cx="2448991" cy="1691640"/>
          </a:xfrm>
          <a:prstGeom prst="roundRect">
            <a:avLst>
              <a:gd name="adj" fmla="val 8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0751" y="3163824"/>
            <a:ext cx="457200" cy="457200"/>
          </a:xfrm>
          <a:prstGeom prst="ellipse">
            <a:avLst/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0751" y="3163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0E12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0751" y="3730752"/>
            <a:ext cx="1936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Calibri"/>
              </a:rPr>
              <a:t>Book &amp; unlock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0751" y="4059936"/>
            <a:ext cx="193692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EADB8"/>
                </a:solidFill>
                <a:latin typeface="Calibri"/>
              </a:rPr>
              <a:t>Reserve a BnB or subscribe to reveal a listing.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1455" y="2926080"/>
            <a:ext cx="2448991" cy="1691640"/>
          </a:xfrm>
          <a:prstGeom prst="roundRect">
            <a:avLst>
              <a:gd name="adj" fmla="val 8000"/>
            </a:avLst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7487" y="3163824"/>
            <a:ext cx="457200" cy="457200"/>
          </a:xfrm>
          <a:prstGeom prst="ellipse">
            <a:avLst/>
          </a:prstGeom>
          <a:solidFill>
            <a:srgbClr val="E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7487" y="3163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0E12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7487" y="3730752"/>
            <a:ext cx="1936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Calibri"/>
              </a:rPr>
              <a:t>Jua Fua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7487" y="4059936"/>
            <a:ext cx="193692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EADB8"/>
                </a:solidFill>
                <a:latin typeface="Calibri"/>
              </a:rPr>
              <a:t>Estimate a laundry load and place an order.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029200"/>
            <a:ext cx="10509199" cy="777240"/>
          </a:xfrm>
          <a:prstGeom prst="roundRect">
            <a:avLst>
              <a:gd name="adj" fmla="val 22000"/>
            </a:avLst>
          </a:prstGeom>
          <a:solidFill>
            <a:srgbClr val="17161C"/>
          </a:solidFill>
          <a:ln w="12700">
            <a:solidFill>
              <a:srgbClr val="C47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029200"/>
            <a:ext cx="10509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8951A"/>
                </a:solidFill>
                <a:latin typeface="Calibri"/>
              </a:rPr>
              <a:t>Jua X  —  one app for the way Kenya actually lives.  Asante!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250">
                <a:solidFill>
                  <a:srgbClr val="E8951A"/>
                </a:solidFill>
                <a:latin typeface="Calibri"/>
              </a:rPr>
              <a:t>JUA 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41908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E7D8A"/>
                </a:solidFill>
                <a:latin typeface="Calibri"/>
              </a:rPr>
              <a:t>Kenya everyday super-app  ·  Demo 2026</a:t>
            </a:r>
          </a:p>
        </p:txBody>
      </p:sp>
      <p:sp>
        <p:nvSpPr>
          <p:cNvPr id="33" name="Oval 32"/>
          <p:cNvSpPr/>
          <p:nvPr/>
        </p:nvSpPr>
        <p:spPr>
          <a:xfrm>
            <a:off x="11658600" y="6400800"/>
            <a:ext cx="292608" cy="292608"/>
          </a:xfrm>
          <a:prstGeom prst="ellipse">
            <a:avLst/>
          </a:prstGeom>
          <a:solidFill>
            <a:srgbClr val="1E1D25"/>
          </a:solidFill>
          <a:ln w="9525">
            <a:solidFill>
              <a:srgbClr val="2E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64008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EAD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